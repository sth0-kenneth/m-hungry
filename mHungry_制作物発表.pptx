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5a6fef82da4f48" /><Relationship Type="http://schemas.openxmlformats.org/officeDocument/2006/relationships/extended-properties" Target="/docProps/app.xml" Id="Rc5e15508a331415f" /><Relationship Type="http://schemas.openxmlformats.org/officeDocument/2006/relationships/officeDocument" Target="/ppt/presentation.xml" Id="Rb0b6e6f940a743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2df49ff38d4a54"/>
  </p:sldMasterIdLst>
  <p:notesMasterIdLst>
    <p:notesMasterId xmlns:r="http://schemas.openxmlformats.org/officeDocument/2006/relationships" r:id="R0a77a826ddd94ee0"/>
  </p:notesMasterIdLst>
  <p:sldIdLst>
    <p:sldId xmlns:r="http://schemas.openxmlformats.org/officeDocument/2006/relationships" id="256" r:id="R5c838724d0a24ea8"/>
    <p:sldId xmlns:r="http://schemas.openxmlformats.org/officeDocument/2006/relationships" id="257" r:id="R3f9065dbab3e4d3a"/>
    <p:sldId xmlns:r="http://schemas.openxmlformats.org/officeDocument/2006/relationships" id="258" r:id="R3009808229db4f48"/>
    <p:sldId xmlns:r="http://schemas.openxmlformats.org/officeDocument/2006/relationships" id="259" r:id="Rbcb2b4ec4b9c4f9b"/>
    <p:sldId xmlns:r="http://schemas.openxmlformats.org/officeDocument/2006/relationships" id="260" r:id="R5864506dea9149c6"/>
    <p:sldId xmlns:r="http://schemas.openxmlformats.org/officeDocument/2006/relationships" id="261" r:id="R4a4bcf2d59954c69"/>
    <p:sldId xmlns:r="http://schemas.openxmlformats.org/officeDocument/2006/relationships" id="262" r:id="R031a15b841d443ab"/>
    <p:sldId xmlns:r="http://schemas.openxmlformats.org/officeDocument/2006/relationships" id="263" r:id="R5089b35656294dde"/>
    <p:sldId xmlns:r="http://schemas.openxmlformats.org/officeDocument/2006/relationships" id="264" r:id="Rdfb7e580e467422c"/>
    <p:sldId xmlns:r="http://schemas.openxmlformats.org/officeDocument/2006/relationships" id="265" r:id="R97142c1b37014efe"/>
    <p:sldId xmlns:r="http://schemas.openxmlformats.org/officeDocument/2006/relationships" id="266" r:id="R958f70eaa4cf4fc1"/>
    <p:sldId xmlns:r="http://schemas.openxmlformats.org/officeDocument/2006/relationships" id="267" r:id="R343514963425486f"/>
    <p:sldId xmlns:r="http://schemas.openxmlformats.org/officeDocument/2006/relationships" id="268" r:id="R333b51789ce442ff"/>
    <p:sldId xmlns:r="http://schemas.openxmlformats.org/officeDocument/2006/relationships" id="269" r:id="Rae4e4d7e614543a5"/>
    <p:sldId xmlns:r="http://schemas.openxmlformats.org/officeDocument/2006/relationships" id="270" r:id="R38fcf3ad051249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745ad94fd748a6" /><Relationship Type="http://schemas.openxmlformats.org/officeDocument/2006/relationships/slideMaster" Target="/ppt/slideMasters/slideMaster1.xml" Id="R0c2df49ff38d4a54" /><Relationship Type="http://schemas.openxmlformats.org/officeDocument/2006/relationships/notesMaster" Target="/ppt/notesMasters/notesMaster1.xml" Id="R0a77a826ddd94ee0" /><Relationship Type="http://schemas.openxmlformats.org/officeDocument/2006/relationships/presProps" Target="/ppt/presProps.xml" Id="Rb10f6ceb877c41a1" /><Relationship Type="http://schemas.openxmlformats.org/officeDocument/2006/relationships/tableStyles" Target="/ppt/tableStyles.xml" Id="Rd4404b52c59a4f73" /><Relationship Type="http://schemas.openxmlformats.org/officeDocument/2006/relationships/slide" Target="/ppt/slides/slide1.xml" Id="R5c838724d0a24ea8" /><Relationship Type="http://schemas.openxmlformats.org/officeDocument/2006/relationships/slide" Target="/ppt/slides/slide2.xml" Id="R3f9065dbab3e4d3a" /><Relationship Type="http://schemas.openxmlformats.org/officeDocument/2006/relationships/slide" Target="/ppt/slides/slide3.xml" Id="R3009808229db4f48" /><Relationship Type="http://schemas.openxmlformats.org/officeDocument/2006/relationships/slide" Target="/ppt/slides/slide4.xml" Id="Rbcb2b4ec4b9c4f9b" /><Relationship Type="http://schemas.openxmlformats.org/officeDocument/2006/relationships/slide" Target="/ppt/slides/slide5.xml" Id="R5864506dea9149c6" /><Relationship Type="http://schemas.openxmlformats.org/officeDocument/2006/relationships/slide" Target="/ppt/slides/slide6.xml" Id="R4a4bcf2d59954c69" /><Relationship Type="http://schemas.openxmlformats.org/officeDocument/2006/relationships/slide" Target="/ppt/slides/slide7.xml" Id="R031a15b841d443ab" /><Relationship Type="http://schemas.openxmlformats.org/officeDocument/2006/relationships/slide" Target="/ppt/slides/slide8.xml" Id="R5089b35656294dde" /><Relationship Type="http://schemas.openxmlformats.org/officeDocument/2006/relationships/slide" Target="/ppt/slides/slide9.xml" Id="Rdfb7e580e467422c" /><Relationship Type="http://schemas.openxmlformats.org/officeDocument/2006/relationships/slide" Target="/ppt/slides/slide10.xml" Id="R97142c1b37014efe" /><Relationship Type="http://schemas.openxmlformats.org/officeDocument/2006/relationships/slide" Target="/ppt/slides/slide11.xml" Id="R958f70eaa4cf4fc1" /><Relationship Type="http://schemas.openxmlformats.org/officeDocument/2006/relationships/slide" Target="/ppt/slides/slide12.xml" Id="R343514963425486f" /><Relationship Type="http://schemas.openxmlformats.org/officeDocument/2006/relationships/slide" Target="/ppt/slides/slide13.xml" Id="R333b51789ce442ff" /><Relationship Type="http://schemas.openxmlformats.org/officeDocument/2006/relationships/slide" Target="/ppt/slides/slide14.xml" Id="Rae4e4d7e614543a5" /><Relationship Type="http://schemas.openxmlformats.org/officeDocument/2006/relationships/slide" Target="/ppt/slides/slide15.xml" Id="R38fcf3ad051249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0bbce4b26f4f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6f034d5dc54743" /><Relationship Type="http://schemas.openxmlformats.org/officeDocument/2006/relationships/notesMaster" Target="/ppt/notesMasters/notesMaster1.xml" Id="R67356b32ec194e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08a7c3196443a5" /><Relationship Type="http://schemas.openxmlformats.org/officeDocument/2006/relationships/notesMaster" Target="/ppt/notesMasters/notesMaster1.xml" Id="R1782d8e56a8d42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3fcb879bbb4bcb" /><Relationship Type="http://schemas.openxmlformats.org/officeDocument/2006/relationships/notesMaster" Target="/ppt/notesMasters/notesMaster1.xml" Id="R08e23690498346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738b2c1b634215" /><Relationship Type="http://schemas.openxmlformats.org/officeDocument/2006/relationships/notesMaster" Target="/ppt/notesMasters/notesMaster1.xml" Id="R7f77cbada5c14b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1784ffa7734f5c" /><Relationship Type="http://schemas.openxmlformats.org/officeDocument/2006/relationships/notesMaster" Target="/ppt/notesMasters/notesMaster1.xml" Id="Rdaf5258381974a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4903cd579048fc" /><Relationship Type="http://schemas.openxmlformats.org/officeDocument/2006/relationships/notesMaster" Target="/ppt/notesMasters/notesMaster1.xml" Id="R89e43328861949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6119ce70e74f4c" /><Relationship Type="http://schemas.openxmlformats.org/officeDocument/2006/relationships/notesMaster" Target="/ppt/notesMasters/notesMaster1.xml" Id="Rc667d594f5964b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530213a8584fcd" /><Relationship Type="http://schemas.openxmlformats.org/officeDocument/2006/relationships/notesMaster" Target="/ppt/notesMasters/notesMaster1.xml" Id="R1f7709039c2040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715b63352c4f0e" /><Relationship Type="http://schemas.openxmlformats.org/officeDocument/2006/relationships/notesMaster" Target="/ppt/notesMasters/notesMaster1.xml" Id="R193c87031c704a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bbbe6e78b64476" /><Relationship Type="http://schemas.openxmlformats.org/officeDocument/2006/relationships/notesMaster" Target="/ppt/notesMasters/notesMaster1.xml" Id="Re15f2e1f6d2a4c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671b4901954b8c" /><Relationship Type="http://schemas.openxmlformats.org/officeDocument/2006/relationships/notesMaster" Target="/ppt/notesMasters/notesMaster1.xml" Id="Rcdc6aced277742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b83c2ba7744c9f" /><Relationship Type="http://schemas.openxmlformats.org/officeDocument/2006/relationships/notesMaster" Target="/ppt/notesMasters/notesMaster1.xml" Id="R3b1260e19dc846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b9547796ab45c9" /><Relationship Type="http://schemas.openxmlformats.org/officeDocument/2006/relationships/notesMaster" Target="/ppt/notesMasters/notesMaster1.xml" Id="R7843630cf03440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9e72e69d714c4b" /><Relationship Type="http://schemas.openxmlformats.org/officeDocument/2006/relationships/notesMaster" Target="/ppt/notesMasters/notesMaster1.xml" Id="Rceb0ffc492c047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5029474a794c80" /><Relationship Type="http://schemas.openxmlformats.org/officeDocument/2006/relationships/notesMaster" Target="/ppt/notesMasters/notesMaster1.xml" Id="Rcb52506f529744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24af1b1574e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398c79377247b7" /><Relationship Type="http://schemas.openxmlformats.org/officeDocument/2006/relationships/slideLayout" Target="/ppt/slideLayouts/slideLayout1.xml" Id="R5a6b644ec93a46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6b644ec93a46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da617948140ed" /><Relationship Type="http://schemas.openxmlformats.org/officeDocument/2006/relationships/notesSlide" Target="/ppt/notesSlides/notesSlide1.xml" Id="Rf53f2f8643394a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75b6ce39745d1" /><Relationship Type="http://schemas.openxmlformats.org/officeDocument/2006/relationships/notesSlide" Target="/ppt/notesSlides/notesSlide2.xml" Id="Ra228e600774841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87c5a62b74963" /><Relationship Type="http://schemas.openxmlformats.org/officeDocument/2006/relationships/notesSlide" Target="/ppt/notesSlides/notesSlide3.xml" Id="Rfdc23d5cf0a54e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3762288c94624" /><Relationship Type="http://schemas.openxmlformats.org/officeDocument/2006/relationships/notesSlide" Target="/ppt/notesSlides/notesSlide4.xml" Id="R3681b74f291448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d662981a743f5" /><Relationship Type="http://schemas.openxmlformats.org/officeDocument/2006/relationships/notesSlide" Target="/ppt/notesSlides/notesSlide5.xml" Id="Rf42e4b3451b048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a4a11e6f04151" /><Relationship Type="http://schemas.openxmlformats.org/officeDocument/2006/relationships/notesSlide" Target="/ppt/notesSlides/notesSlide6.xml" Id="Rd9354e6ffa9846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6f43adab94504" /><Relationship Type="http://schemas.openxmlformats.org/officeDocument/2006/relationships/notesSlide" Target="/ppt/notesSlides/notesSlide7.xml" Id="R2f79551903f041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1923e30a54e24" /><Relationship Type="http://schemas.openxmlformats.org/officeDocument/2006/relationships/notesSlide" Target="/ppt/notesSlides/notesSlide8.xml" Id="R32d28a0e4bb549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c5329bfbf4211" /><Relationship Type="http://schemas.openxmlformats.org/officeDocument/2006/relationships/notesSlide" Target="/ppt/notesSlides/notesSlide9.xml" Id="Rd395002949c344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e69831a694a70" /><Relationship Type="http://schemas.openxmlformats.org/officeDocument/2006/relationships/notesSlide" Target="/ppt/notesSlides/notesSlide10.xml" Id="Rc76c4733852244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b630fc7de4878" /><Relationship Type="http://schemas.openxmlformats.org/officeDocument/2006/relationships/notesSlide" Target="/ppt/notesSlides/notesSlide11.xml" Id="Re668a4a0e3d349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18d0df9d34f85" /><Relationship Type="http://schemas.openxmlformats.org/officeDocument/2006/relationships/notesSlide" Target="/ppt/notesSlides/notesSlide12.xml" Id="R90ffd9ecce4144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772de903547cf" /><Relationship Type="http://schemas.openxmlformats.org/officeDocument/2006/relationships/notesSlide" Target="/ppt/notesSlides/notesSlide13.xml" Id="Rd2e503dc978c44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c1d2d3bc9480b" /><Relationship Type="http://schemas.openxmlformats.org/officeDocument/2006/relationships/notesSlide" Target="/ppt/notesSlides/notesSlide14.xml" Id="R5a439b8da10a4b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9fbedd4a54d8e" /><Relationship Type="http://schemas.openxmlformats.org/officeDocument/2006/relationships/notesSlide" Target="/ppt/notesSlides/notesSlide15.xml" Id="R2e871742607b42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14AF0-49B6-4A89-8042-17E99390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135D9-9DDE-48D4-99B3-E4262663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9243F-8DB5-4747-A483-A834C44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6835C"/>
                </a:solidFill>
              </a:defRPr>
            </a:pPr>
            <a:r>
              <a:rPr sz="4800" b="1">
                <a:solidFill>
                  <a:srgbClr val="16835C"/>
                </a:solidFill>
              </a:rPr>
              <a:t>mHungry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017A3-E8C1-47B7-B2DF-3F9EC3DD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82D"/>
                </a:solidFill>
              </a:defRPr>
            </a:pPr>
            <a:r>
              <a:rPr sz="2175" b="1">
                <a:solidFill>
                  <a:srgbClr val="12382D"/>
                </a:solidFill>
              </a:rPr>
              <a:t>食品管理・賞味期限通知・</a:t>
            </a:r>
          </a:p>
          <a:p xmlns:a="http://schemas.openxmlformats.org/drawingml/2006/main">
            <a:pPr algn="l">
              <a:defRPr sz="2175" b="1">
                <a:solidFill>
                  <a:srgbClr val="12382D"/>
                </a:solidFill>
              </a:defRPr>
            </a:pPr>
            <a:r>
              <a:rPr sz="2175" b="1">
                <a:solidFill>
                  <a:srgbClr val="12382D"/>
                </a:solidFill>
              </a:rPr>
              <a:t>AIレシピ提案Webアプリ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4E872-6DC0-4B04-8194-C3060C52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42"/>
                </a:solidFill>
              </a:defRPr>
            </a:pPr>
            <a:r>
              <a:rPr sz="1650" b="1">
                <a:solidFill>
                  <a:srgbClr val="F59E42"/>
                </a:solidFill>
              </a:rPr>
              <a:t>食材を、忘れない。無駄にしない。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6789B-0511-42A7-8B51-6CD83CBD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19150"/>
            <a:ext cx="42862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53DE2-E16A-49A3-A480-99DC726A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90600"/>
            <a:ext cx="39433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1E2D1-FA8C-4220-B8DA-00918E43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812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6835C"/>
                </a:solidFill>
              </a:defRPr>
            </a:pPr>
            <a:r>
              <a:rPr sz="3150" b="1">
                <a:solidFill>
                  <a:srgbClr val="16835C"/>
                </a:solidFill>
              </a:rPr>
              <a:t>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3B6A0-A178-42E0-8884-CC69602A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812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制作物の画面イメージ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28030-05B9-461E-BA87-4C0F405D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36E"/>
                </a:solidFill>
              </a:defRPr>
            </a:pPr>
            <a:r>
              <a:rPr sz="1050" b="0">
                <a:solidFill>
                  <a:srgbClr val="63736E"/>
                </a:solidFill>
              </a:rPr>
              <a:t>画像を選択して差し替え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293EC-676B-481C-A39D-96B7BC9A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5429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C87A4-318D-42D0-AEF8-DA6C9A1F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2A"/>
                </a:solidFill>
              </a:defRPr>
            </a:pPr>
            <a:r>
              <a:rPr sz="1425" b="0">
                <a:solidFill>
                  <a:srgbClr val="18302A"/>
                </a:solidFill>
              </a:rPr>
              <a:t>氏名：［自分の氏名を入力］</a:t>
            </a:r>
          </a:p>
          <a:p xmlns:a="http://schemas.openxmlformats.org/drawingml/2006/main">
            <a:pPr algn="l">
              <a:defRPr sz="1425" b="0">
                <a:solidFill>
                  <a:srgbClr val="18302A"/>
                </a:solidFill>
              </a:defRPr>
            </a:pPr>
            <a:r>
              <a:rPr sz="1425" b="0">
                <a:solidFill>
                  <a:srgbClr val="18302A"/>
                </a:solidFill>
              </a:rPr>
              <a:t>学科・クラス：［学科・クラスを入力］</a:t>
            </a:r>
          </a:p>
          <a:p xmlns:a="http://schemas.openxmlformats.org/drawingml/2006/main">
            <a:pPr algn="l">
              <a:defRPr sz="1425" b="0">
                <a:solidFill>
                  <a:srgbClr val="18302A"/>
                </a:solidFill>
              </a:defRPr>
            </a:pPr>
            <a:r>
              <a:rPr sz="1425" b="0">
                <a:solidFill>
                  <a:srgbClr val="18302A"/>
                </a:solidFill>
              </a:rPr>
              <a:t>発表日：［発表日を入力］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F554F-D53A-4342-9C7C-9D6DB7B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927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07406-BA3C-404F-9D62-9987094A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DDF44-82EA-4921-9628-C4446943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食品は「あるのに忘れる」ことで無駄になる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BADEF-ADED-4F88-89F0-E7FD03BC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40109-802A-4836-93FE-C8FC6860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AF60D-6BE9-4AEB-838B-4627E408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85B77-0FBE-4EBD-BE05-9589E890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5C"/>
                </a:solidFill>
              </a:defRPr>
            </a:pPr>
            <a:r>
              <a:rPr sz="2550" b="1">
                <a:solidFill>
                  <a:srgbClr val="16835C"/>
                </a:solidFill>
              </a:rPr>
              <a:t>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0EA7F-9DCB-4EC0-A318-AED87C8A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002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見えない在庫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1A76F-67A6-4AF2-96E5-E6C0BC26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冷蔵庫の中身を</a:t>
            </a:r>
          </a:p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把握しにくい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30A47-EEBF-4512-8DA4-9F3015F3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D3E85-6BE4-4C9F-BA20-0D99C2AA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0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42"/>
                </a:solidFill>
              </a:defRPr>
            </a:pPr>
            <a:r>
              <a:rPr sz="2550" b="1">
                <a:solidFill>
                  <a:srgbClr val="F59E42"/>
                </a:solidFill>
              </a:rPr>
              <a:t>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8CB40-742C-45E2-9748-3CD7A5E5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忘れる期限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CD3F6-746E-408F-B193-0067771F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145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賞味期限・消費期限を</a:t>
            </a:r>
          </a:p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覚えていられない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54B05-E8A4-43DC-A5DF-394E918F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AAC30-DC6C-487C-993B-97DAF4F7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0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5C"/>
                </a:solidFill>
              </a:defRPr>
            </a:pPr>
            <a:r>
              <a:rPr sz="2550" b="1">
                <a:solidFill>
                  <a:srgbClr val="16835C"/>
                </a:solidFill>
              </a:rPr>
              <a:t>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9E71D-BD6A-4271-9284-40815DD3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002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面倒な記録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CE948-6B23-4CC6-B6DF-833C3D04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レシートを保存して</a:t>
            </a:r>
          </a:p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手入力する負担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2A45A-5F96-4B78-940D-9F192E4D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67125"/>
            <a:ext cx="9239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E7"/>
          </a:solidFill>
          <a:ln xmlns:a="http://schemas.openxmlformats.org/drawingml/2006/main" w="14288">
            <a:solidFill>
              <a:srgbClr val="F59E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7B499-C852-4034-9203-DC45E88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814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82D"/>
                </a:solidFill>
              </a:defRPr>
            </a:pPr>
            <a:r>
              <a:rPr sz="1800" b="1">
                <a:solidFill>
                  <a:srgbClr val="12382D"/>
                </a:solidFill>
              </a:rPr>
              <a:t>買った食品を忘れる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6A954-9E02-4EBA-8C05-51E2EB12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71950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9E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46610-866C-4BAD-82A5-4452949F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81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82D"/>
                </a:solidFill>
              </a:defRPr>
            </a:pPr>
            <a:r>
              <a:rPr sz="1800" b="1">
                <a:solidFill>
                  <a:srgbClr val="12382D"/>
                </a:solidFill>
              </a:rPr>
              <a:t>使い切れない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5D0C1-4C9A-4905-A31E-3D51DDFF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719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9E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E3E6B-634A-456A-990E-2E5F0D3D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57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5252"/>
                </a:solidFill>
              </a:defRPr>
            </a:pPr>
            <a:r>
              <a:rPr sz="2250" b="1">
                <a:solidFill>
                  <a:srgbClr val="DC5252"/>
                </a:solidFill>
              </a:rPr>
              <a:t>食品ロス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03A5E4-4C14-44EC-826E-DC44BF7B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3736E"/>
                </a:solidFill>
              </a:defRPr>
            </a:pPr>
            <a:r>
              <a:rPr sz="1575" b="0">
                <a:solidFill>
                  <a:srgbClr val="63736E"/>
                </a:solidFill>
              </a:rPr>
              <a:t>日々の小さな見落としが、廃棄と余計な出費につながる</a:t>
            </a:r>
          </a:p>
        </p:txBody>
      </p:sp>
    </p:spTree>
    <p:extLst>
      <p:ext uri="{BB962C8B-B14F-4D97-AF65-F5344CB8AC3E}">
        <p14:creationId xmlns:p14="http://schemas.microsoft.com/office/powerpoint/2010/main" val="13893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A2AF8-41FC-4528-9EAF-9E702ED9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64AD8-2D89-4C2E-962D-62613ED2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身近な困りごとを、学んだ技術で解決したい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00DE6-D5DC-493D-A8F8-2F596CC8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D4747-AFD3-4FE8-83C8-79D1F118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77589-FFC6-4F13-8301-EA897B09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6835C"/>
                </a:solidFill>
              </a:defRPr>
            </a:pPr>
            <a:r>
              <a:rPr sz="4950" b="1">
                <a:solidFill>
                  <a:srgbClr val="16835C"/>
                </a:solidFill>
              </a:rPr>
              <a:t>WHY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B87C0-1DCA-48CE-9208-059EE1F2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mHungry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FE6EF-1E3D-4426-9FD1-631986E7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71625"/>
            <a:ext cx="0" cy="404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5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E0AE3-81D5-4056-AD65-3A0F0C12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47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EA857-F13B-4EA6-8B61-77B65AAA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71625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2A"/>
                </a:solidFill>
              </a:defRPr>
            </a:pPr>
            <a:r>
              <a:rPr sz="1725" b="0">
                <a:solidFill>
                  <a:srgbClr val="18302A"/>
                </a:solidFill>
              </a:rPr>
              <a:t>期限を忘れず、購入食品を簡単に記録したい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3DF50-AC6D-49A8-8296-5C54A447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F4482-EC3E-41E8-9FF0-6E2FB5D3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90775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2A"/>
                </a:solidFill>
              </a:defRPr>
            </a:pPr>
            <a:r>
              <a:rPr sz="1725" b="0">
                <a:solidFill>
                  <a:srgbClr val="18302A"/>
                </a:solidFill>
              </a:rPr>
              <a:t>食品ロスを減らし、食材を最後まで使いたい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C39FA-5132-4258-BFFA-BFBCA962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DC3B5-40A9-47BF-B0D6-0CE89E73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9925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2A"/>
                </a:solidFill>
              </a:defRPr>
            </a:pPr>
            <a:r>
              <a:rPr sz="1725" b="0">
                <a:solidFill>
                  <a:srgbClr val="18302A"/>
                </a:solidFill>
              </a:rPr>
              <a:t>手持ち食材から献立をすぐ決めたい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15021-FF96-49F8-9109-CED0F0EE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052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B8573-DD1F-4A5B-8771-D49351EE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29075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2A"/>
                </a:solidFill>
              </a:defRPr>
            </a:pPr>
            <a:r>
              <a:rPr sz="1725" b="0">
                <a:solidFill>
                  <a:srgbClr val="18302A"/>
                </a:solidFill>
              </a:rPr>
              <a:t>カメラ・OCR・AIの学習成果を一つに統合したい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32E70-A975-4E45-B18C-4C0B7938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6572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65E26-4E9B-4078-AB34-58E895C3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006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日常の「面倒」を、撮影から始まる便利な体験へ</a:t>
            </a:r>
          </a:p>
        </p:txBody>
      </p:sp>
    </p:spTree>
    <p:extLst>
      <p:ext uri="{BB962C8B-B14F-4D97-AF65-F5344CB8AC3E}">
        <p14:creationId xmlns:p14="http://schemas.microsoft.com/office/powerpoint/2010/main" val="431237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8CAF1D-0867-4213-835E-7EE13897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9BC9A-1119-46D6-BA52-F6F4346F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撮影から通知・レシピまでを一つにつなぐ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41949-D383-47B7-8AED-AB6E17DD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6D76F-15D2-41A3-9284-9DB5B846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0A322-FB7B-4680-9C6D-ECB0041C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0320B-3663-4DE8-A620-DAFAF0F8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35C"/>
                </a:solidFill>
              </a:defRPr>
            </a:pPr>
            <a:r>
              <a:rPr sz="2250" b="1">
                <a:solidFill>
                  <a:srgbClr val="16835C"/>
                </a:solidFill>
              </a:rPr>
              <a:t>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7D503-3739-4491-A813-90010FAF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食品・レシート</a:t>
            </a:r>
          </a:p>
          <a:p xmlns:a="http://schemas.openxmlformats.org/drawingml/2006/main">
            <a:pPr algn="l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を撮影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8E269-876A-4F59-8F91-55F215A8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240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5D30F-FBFA-48A1-BE33-B6B9DFBD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19250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9E42"/>
                </a:solidFill>
              </a:defRPr>
            </a:pPr>
            <a:r>
              <a:rPr sz="2250" b="1">
                <a:solidFill>
                  <a:srgbClr val="F59E42"/>
                </a:solidFill>
              </a:rPr>
              <a:t>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04DA4-97D2-438F-86F8-77675C45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192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42"/>
                </a:solidFill>
              </a:defRPr>
            </a:pPr>
            <a:r>
              <a:rPr sz="1425" b="1">
                <a:solidFill>
                  <a:srgbClr val="F59E42"/>
                </a:solidFill>
              </a:rPr>
              <a:t>AI認識・OCR</a:t>
            </a:r>
          </a:p>
          <a:p xmlns:a="http://schemas.openxmlformats.org/drawingml/2006/main">
            <a:pPr algn="l">
              <a:defRPr sz="1425" b="1">
                <a:solidFill>
                  <a:srgbClr val="F59E42"/>
                </a:solidFill>
              </a:defRPr>
            </a:pPr>
            <a:r>
              <a:rPr sz="1425" b="1">
                <a:solidFill>
                  <a:srgbClr val="F59E42"/>
                </a:solidFill>
              </a:rPr>
              <a:t>で読み取り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B867B-91D4-49CF-BAA7-75421F21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B50FB-16BD-4246-AACE-7E1B5E7D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35C"/>
                </a:solidFill>
              </a:defRPr>
            </a:pPr>
            <a:r>
              <a:rPr sz="2250" b="1">
                <a:solidFill>
                  <a:srgbClr val="16835C"/>
                </a:solidFill>
              </a:rPr>
              <a:t>🗄️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09D54-A022-40AA-B5C1-3477CDDB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192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食品情報を</a:t>
            </a:r>
          </a:p>
          <a:p xmlns:a="http://schemas.openxmlformats.org/drawingml/2006/main">
            <a:pPr algn="l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保存・管理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D8F76-B772-48FC-8820-31039805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240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AA0D5-9549-4E89-8BC5-06B1CC6E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19250"/>
            <a:ext cx="45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9E42"/>
                </a:solidFill>
              </a:defRPr>
            </a:pPr>
            <a:r>
              <a:rPr sz="2250" b="1">
                <a:solidFill>
                  <a:srgbClr val="F59E42"/>
                </a:solidFill>
              </a:rPr>
              <a:t>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1F1CB-C488-4308-8427-4CE06B9D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6192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42"/>
                </a:solidFill>
              </a:defRPr>
            </a:pPr>
            <a:r>
              <a:rPr sz="1425" b="1">
                <a:solidFill>
                  <a:srgbClr val="F59E42"/>
                </a:solidFill>
              </a:rPr>
              <a:t>期限通知・</a:t>
            </a:r>
          </a:p>
          <a:p xmlns:a="http://schemas.openxmlformats.org/drawingml/2006/main">
            <a:pPr algn="l">
              <a:defRPr sz="1425" b="1">
                <a:solidFill>
                  <a:srgbClr val="F59E42"/>
                </a:solidFill>
              </a:defRPr>
            </a:pPr>
            <a:r>
              <a:rPr sz="1425" b="1">
                <a:solidFill>
                  <a:srgbClr val="F59E42"/>
                </a:solidFill>
              </a:rPr>
              <a:t>レシピ提案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B6F5C-CC59-426B-97BA-13ADE8A8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3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80C6E-66E8-4C4D-B584-761B21FC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621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3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B2DAC-19D4-48A4-BF2B-DF49AA9D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3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55140-2E3C-4B50-93B4-15A90008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25EA3-9D05-4688-BB63-21E36035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6835C"/>
                </a:solidFill>
              </a:defRPr>
            </a:pPr>
            <a:r>
              <a:rPr sz="2175" b="1">
                <a:solidFill>
                  <a:srgbClr val="16835C"/>
                </a:solidFill>
              </a:rPr>
              <a:t>mHungry がまとめて管理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16F26-A0E3-49AD-B0BC-32A9D9C9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57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A2C26-31E5-40B7-8E36-74C5847D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981450"/>
            <a:ext cx="735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食品名・数量・購入日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0B007-3DC5-45AD-AEB3-67BA833F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57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33BDDF-D0FF-42E5-B7D2-207C383E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81500"/>
            <a:ext cx="735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賞味期限／消費期限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BA039F-ADCE-4B1B-A2C0-79100595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57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0911EF-09F1-487F-AFAF-B14D1C26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81550"/>
            <a:ext cx="735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期限の残り日数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ACB41B-BD37-4E90-AC45-A1B43965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57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48E915-AB07-484C-9D78-FAAD0448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181600"/>
            <a:ext cx="735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手持ち食材とレシピ</a:t>
            </a:r>
          </a:p>
        </p:txBody>
      </p:sp>
    </p:spTree>
    <p:extLst>
      <p:ext uri="{BB962C8B-B14F-4D97-AF65-F5344CB8AC3E}">
        <p14:creationId xmlns:p14="http://schemas.microsoft.com/office/powerpoint/2010/main" val="1131778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043A6-09F7-4C92-8936-70CB9A7F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3B6C5-195A-4029-93A7-1284F379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食品登録は、撮影して確認するだけ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D468F-6986-44F2-BEAE-71BD5E2A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0AD54-5608-414B-924E-1FD9EC58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33B54-AE57-4EDD-B61A-63E5F0AE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272CD-DE06-44E3-B92E-74A39CB1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240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02A"/>
                </a:solidFill>
              </a:defRPr>
            </a:pPr>
            <a:r>
              <a:rPr sz="1575" b="0">
                <a:solidFill>
                  <a:srgbClr val="18302A"/>
                </a:solidFill>
              </a:rPr>
              <a:t>カメラで食品を撮影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8D00F-101B-41B2-BE87-C42FD8B2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D6F5B-2031-43ED-9393-D9B71699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02A"/>
                </a:solidFill>
              </a:defRPr>
            </a:pPr>
            <a:r>
              <a:rPr sz="1575" b="0">
                <a:solidFill>
                  <a:srgbClr val="18302A"/>
                </a:solidFill>
              </a:rPr>
              <a:t>AI画像認識で食品名を判定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7A277-D93A-4BFC-8273-F0DBC141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52354-D625-4C91-A009-522F7EEE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02A"/>
                </a:solidFill>
              </a:defRPr>
            </a:pPr>
            <a:r>
              <a:rPr sz="1575" b="0">
                <a:solidFill>
                  <a:srgbClr val="18302A"/>
                </a:solidFill>
              </a:rPr>
              <a:t>数量・購入日・期限を確認／入力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FEEF8-BBF2-49D0-AD83-08EC8F13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1B658-EAE8-4CA5-A483-FB6AD720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02A"/>
                </a:solidFill>
              </a:defRPr>
            </a:pPr>
            <a:r>
              <a:rPr sz="1575" b="0">
                <a:solidFill>
                  <a:srgbClr val="18302A"/>
                </a:solidFill>
              </a:rPr>
              <a:t>一覧表示・編集・削除に対応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5A317-3664-4D6D-9A71-6B01B21C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857750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CDBE9-8273-4649-863B-6D4B2B24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52575"/>
            <a:ext cx="4514850" cy="3419475"/>
          </a:xfrm>
          <a:prstGeom xmlns:a="http://schemas.openxmlformats.org/drawingml/2006/main" prst="roundRect">
            <a:avLst>
              <a:gd name="adj" fmla="val 2228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111A2-1CF6-443F-947E-0F842158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09863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6835C"/>
                </a:solidFill>
              </a:defRPr>
            </a:pPr>
            <a:r>
              <a:rPr sz="3150" b="1">
                <a:solidFill>
                  <a:srgbClr val="16835C"/>
                </a:solidFill>
              </a:rPr>
              <a:t>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92854-258E-48DB-884C-36E6360F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09938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食品登録画面のモックアップ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2EA3C-17FA-44C3-A5C7-D24CDF72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4263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36E"/>
                </a:solidFill>
              </a:defRPr>
            </a:pPr>
            <a:r>
              <a:rPr sz="1050" b="0">
                <a:solidFill>
                  <a:srgbClr val="63736E"/>
                </a:solidFill>
              </a:rPr>
              <a:t>画像を選択して差し替え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57979-C81C-4696-ABDB-F6B2195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1625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4E7"/>
          </a:solidFill>
          <a:ln xmlns:a="http://schemas.openxmlformats.org/drawingml/2006/main" w="14288">
            <a:solidFill>
              <a:srgbClr val="F59E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05EA-8478-41FC-802D-EC69654C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76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82D"/>
                </a:solidFill>
              </a:defRPr>
            </a:pPr>
            <a:r>
              <a:rPr sz="1350" b="1">
                <a:solidFill>
                  <a:srgbClr val="12382D"/>
                </a:solidFill>
              </a:rPr>
              <a:t>入力負担を減らし、必要な修正は残す</a:t>
            </a:r>
          </a:p>
        </p:txBody>
      </p:sp>
    </p:spTree>
    <p:extLst>
      <p:ext uri="{BB962C8B-B14F-4D97-AF65-F5344CB8AC3E}">
        <p14:creationId xmlns:p14="http://schemas.microsoft.com/office/powerpoint/2010/main" val="916141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0AABE9-9F03-4C77-B583-758E99EA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2714D-231D-4EC6-AE35-BA595639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レシート1枚から、複数商品をまとめて登録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19F37-C378-4C3A-A452-57D5F5E6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400F8-1D18-42F5-B67F-D9404BA6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AFEDE-519F-400C-8F30-B3284E77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619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E881A-EAF9-4369-9B2D-E9411370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57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35C"/>
                </a:solidFill>
              </a:defRPr>
            </a:pPr>
            <a:r>
              <a:rPr sz="2250" b="1">
                <a:solidFill>
                  <a:srgbClr val="16835C"/>
                </a:solidFill>
              </a:rPr>
              <a:t>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7D5FB-5723-4997-AC02-E82DB6DA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19335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レシート撮影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0E2BF-184E-4949-BCEE-2BA614BD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619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5E939-D628-49DC-B59D-74E66FD9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457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9E42"/>
                </a:solidFill>
              </a:defRPr>
            </a:pPr>
            <a:r>
              <a:rPr sz="2250" b="1">
                <a:solidFill>
                  <a:srgbClr val="F59E42"/>
                </a:solidFill>
              </a:rPr>
              <a:t>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D2AEC-07FC-4C4D-A8F6-56B09110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09750"/>
            <a:ext cx="19335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42"/>
                </a:solidFill>
              </a:defRPr>
            </a:pPr>
            <a:r>
              <a:rPr sz="1425" b="1">
                <a:solidFill>
                  <a:srgbClr val="F59E42"/>
                </a:solidFill>
              </a:rPr>
              <a:t>OCRで文字認識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2143D-CEA9-41E1-B258-77F9484A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619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65D5B-7AE5-4C87-84B4-A08EE8FD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457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35C"/>
                </a:solidFill>
              </a:defRPr>
            </a:pPr>
            <a:r>
              <a:rPr sz="2250" b="1">
                <a:solidFill>
                  <a:srgbClr val="16835C"/>
                </a:solidFill>
              </a:rPr>
              <a:t>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1F8D1-CD9D-40AE-9881-F4D73995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19335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食品を自動登録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20CCD-9D13-4287-AD6B-A53B70F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09800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3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F2B70-2C3B-43C5-83E1-F2D7C3DE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09800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3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CF9CB-B1D6-4D49-99AA-5C4D272F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82D"/>
                </a:solidFill>
              </a:defRPr>
            </a:pPr>
            <a:r>
              <a:rPr sz="1875" b="1">
                <a:solidFill>
                  <a:srgbClr val="12382D"/>
                </a:solidFill>
              </a:rPr>
              <a:t>読み取り項目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84E50-BA41-4F6E-9801-1C5862B5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7AB6C-D920-496B-BAF0-EF916CB1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商品名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925A1-2602-4E27-9B1E-23F4AA08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BE0F2-8AF3-4A09-B561-D4B1F416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1482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価格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F912D-8DE3-411E-8D26-8226E5B5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B35DE-4065-4C66-93CA-4F70CC12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購入日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7E924-774C-4B81-BF09-0DE4F294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652462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4E7"/>
          </a:solidFill>
          <a:ln xmlns:a="http://schemas.openxmlformats.org/drawingml/2006/main" w="14288">
            <a:solidFill>
              <a:srgbClr val="F59E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96502-EA3F-4E48-A27A-60349948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42"/>
                </a:solidFill>
              </a:defRPr>
            </a:pPr>
            <a:r>
              <a:rPr sz="1800" b="1">
                <a:solidFill>
                  <a:srgbClr val="F59E42"/>
                </a:solidFill>
              </a:rPr>
              <a:t>確認・修正ステップ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2F5A2-F594-4FDE-920A-152A0771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910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02A"/>
                </a:solidFill>
              </a:defRPr>
            </a:pPr>
            <a:r>
              <a:rPr sz="1575" b="0">
                <a:solidFill>
                  <a:srgbClr val="18302A"/>
                </a:solidFill>
              </a:rPr>
              <a:t>OCRの誤りは登録前にユーザーが修正</a:t>
            </a:r>
          </a:p>
          <a:p xmlns:a="http://schemas.openxmlformats.org/drawingml/2006/main">
            <a:pPr algn="l">
              <a:defRPr sz="1575" b="0">
                <a:solidFill>
                  <a:srgbClr val="18302A"/>
                </a:solidFill>
              </a:defRPr>
            </a:pPr>
            <a:r>
              <a:rPr sz="1575" b="0">
                <a:solidFill>
                  <a:srgbClr val="18302A"/>
                </a:solidFill>
              </a:rPr>
              <a:t>→ 自動化と正確さを両立</a:t>
            </a:r>
          </a:p>
        </p:txBody>
      </p:sp>
    </p:spTree>
    <p:extLst>
      <p:ext uri="{BB962C8B-B14F-4D97-AF65-F5344CB8AC3E}">
        <p14:creationId xmlns:p14="http://schemas.microsoft.com/office/powerpoint/2010/main" val="655807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558F4-9745-4EF0-BCDC-8E52938B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F539D-39FE-42FF-8E8E-483FF06D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残り日数を色で示し、期限切れを防ぐ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F6BE1-1410-4295-B052-9B3AEE1C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10957-04BE-4933-AE56-96372825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64787-1210-486E-8BC9-9ADEFA6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723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63032-3DDC-47CC-85B7-FB568BA9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33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B71AA-2E41-4825-A629-758CD704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82D"/>
                </a:solidFill>
              </a:defRPr>
            </a:pPr>
            <a:r>
              <a:rPr sz="1875" b="1">
                <a:solidFill>
                  <a:srgbClr val="12382D"/>
                </a:solidFill>
              </a:rPr>
              <a:t>牛乳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32914-5E27-4C83-869A-BB1E6F4D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835C"/>
                </a:solidFill>
              </a:defRPr>
            </a:pPr>
            <a:r>
              <a:rPr sz="1725" b="1">
                <a:solidFill>
                  <a:srgbClr val="16835C"/>
                </a:solidFill>
              </a:rPr>
              <a:t>あと 8日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A0B79-2E51-49EF-AA7F-61DCABCF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余裕あり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10F9A-FA9A-47C4-997F-041B5D4D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723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F08D0-9B9D-4E51-BBBB-8A1DDCBD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133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14288">
            <a:solidFill>
              <a:srgbClr val="F59E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16302-A015-434B-BD25-A2047FCE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194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82D"/>
                </a:solidFill>
              </a:defRPr>
            </a:pPr>
            <a:r>
              <a:rPr sz="1875" b="1">
                <a:solidFill>
                  <a:srgbClr val="12382D"/>
                </a:solidFill>
              </a:rPr>
              <a:t>ヨーグルト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EA62A-A4A2-40DA-AA77-081EB8D5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194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9E42"/>
                </a:solidFill>
              </a:defRPr>
            </a:pPr>
            <a:r>
              <a:rPr sz="1725" b="1">
                <a:solidFill>
                  <a:srgbClr val="F59E42"/>
                </a:solidFill>
              </a:rPr>
              <a:t>あと 2日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1E220-9B15-4710-9A44-B34C6793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42"/>
                </a:solidFill>
              </a:defRPr>
            </a:pPr>
            <a:r>
              <a:rPr sz="1425" b="1">
                <a:solidFill>
                  <a:srgbClr val="F59E42"/>
                </a:solidFill>
              </a:rPr>
              <a:t>期限が近い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AEFA6-B189-4DDD-8FD5-52C73E37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723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DB19B-6F89-4C2B-A978-CE2C6675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133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252"/>
          </a:solidFill>
          <a:ln xmlns:a="http://schemas.openxmlformats.org/drawingml/2006/main" w="14288">
            <a:solidFill>
              <a:srgbClr val="DC52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69548A-F15D-498A-B10C-037A336F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82D"/>
                </a:solidFill>
              </a:defRPr>
            </a:pPr>
            <a:r>
              <a:rPr sz="1875" b="1">
                <a:solidFill>
                  <a:srgbClr val="12382D"/>
                </a:solidFill>
              </a:rPr>
              <a:t>豆腐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BA68-7DBD-41A6-AC28-2E70B3A6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C5252"/>
                </a:solidFill>
              </a:defRPr>
            </a:pPr>
            <a:r>
              <a:rPr sz="1725" b="1">
                <a:solidFill>
                  <a:srgbClr val="DC5252"/>
                </a:solidFill>
              </a:rPr>
              <a:t>2日超過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5E74F-9525-4496-BAB1-AE0D3C08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C5252"/>
                </a:solidFill>
              </a:defRPr>
            </a:pPr>
            <a:r>
              <a:rPr sz="1425" b="1">
                <a:solidFill>
                  <a:srgbClr val="DC5252"/>
                </a:solidFill>
              </a:rPr>
              <a:t>期限切れ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8F884-C206-4DB6-9430-9F168185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2571750" cy="30289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382D"/>
          </a:solidFill>
          <a:ln xmlns:a="http://schemas.openxmlformats.org/drawingml/2006/main" w="14288">
            <a:solidFill>
              <a:srgbClr val="1238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A9D2F-87C0-4A17-95C3-56ED2F47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59E42"/>
                </a:solidFill>
              </a:defRPr>
            </a:pPr>
            <a:r>
              <a:rPr sz="4125" b="1">
                <a:solidFill>
                  <a:srgbClr val="F59E42"/>
                </a:solidFill>
              </a:rPr>
              <a:t>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29F64-CF5C-4948-A128-B36A1ADD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期限が近づくと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通知でお知らせ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EA8FA-9A05-4223-B3BC-C93EFF1E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576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FE5DC"/>
                </a:solidFill>
              </a:defRPr>
            </a:pPr>
            <a:r>
              <a:rPr sz="1275" b="0">
                <a:solidFill>
                  <a:srgbClr val="CFE5DC"/>
                </a:solidFill>
              </a:rPr>
              <a:t>優先して使う食品が</a:t>
            </a:r>
          </a:p>
          <a:p xmlns:a="http://schemas.openxmlformats.org/drawingml/2006/main">
            <a:pPr algn="ctr">
              <a:defRPr sz="1275" b="0">
                <a:solidFill>
                  <a:srgbClr val="CFE5DC"/>
                </a:solidFill>
              </a:defRPr>
            </a:pPr>
            <a:r>
              <a:rPr sz="1275" b="0">
                <a:solidFill>
                  <a:srgbClr val="CFE5DC"/>
                </a:solidFill>
              </a:rPr>
              <a:t>ひと目で分かる</a:t>
            </a:r>
          </a:p>
        </p:txBody>
      </p:sp>
    </p:spTree>
    <p:extLst>
      <p:ext uri="{BB962C8B-B14F-4D97-AF65-F5344CB8AC3E}">
        <p14:creationId xmlns:p14="http://schemas.microsoft.com/office/powerpoint/2010/main" val="1446655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0341C-F86F-459D-8340-88B30F81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5D61E-0ED2-4EA1-88AF-92FA0C09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期限が近い食材から、作りやすい料理を提案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12871-1A9E-4E32-B91F-C951F942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01FBA-712B-40C5-B2FA-91110C41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76380-3251-4504-AEAC-54320AEF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667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4FF1E-7079-44C9-BCAA-91B77A83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5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35C"/>
                </a:solidFill>
              </a:defRPr>
            </a:pPr>
            <a:r>
              <a:rPr sz="2250" b="1">
                <a:solidFill>
                  <a:srgbClr val="16835C"/>
                </a:solidFill>
              </a:rPr>
              <a:t>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B2137-82E8-46F7-BCBA-8CADA1E4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62125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冷蔵庫の食材</a:t>
            </a:r>
          </a:p>
          <a:p xmlns:a="http://schemas.openxmlformats.org/drawingml/2006/main">
            <a:pPr algn="l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期限順に選択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37CA5-B154-4CBA-AC2E-66FEECE1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2667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0D2CE-F816-4EBF-B315-A9E9C538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62125"/>
            <a:ext cx="45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9E42"/>
                </a:solidFill>
              </a:defRPr>
            </a:pPr>
            <a:r>
              <a:rPr sz="2250" b="1">
                <a:solidFill>
                  <a:srgbClr val="F59E42"/>
                </a:solidFill>
              </a:rPr>
              <a:t>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76696-508B-41F9-8A3B-8A3FEED8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62125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42"/>
                </a:solidFill>
              </a:defRPr>
            </a:pPr>
            <a:r>
              <a:rPr sz="1425" b="1">
                <a:solidFill>
                  <a:srgbClr val="F59E42"/>
                </a:solidFill>
              </a:rPr>
              <a:t>AI＋Web検索</a:t>
            </a:r>
          </a:p>
          <a:p xmlns:a="http://schemas.openxmlformats.org/drawingml/2006/main">
            <a:pPr algn="l">
              <a:defRPr sz="1425" b="1">
                <a:solidFill>
                  <a:srgbClr val="F59E42"/>
                </a:solidFill>
              </a:defRPr>
            </a:pPr>
            <a:r>
              <a:rPr sz="1425" b="1">
                <a:solidFill>
                  <a:srgbClr val="F59E42"/>
                </a:solidFill>
              </a:rPr>
              <a:t>でレシピ生成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33A23-2281-4A4F-918B-5F7DA537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667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8E184-C11E-4316-826A-D0738A5B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45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835C"/>
                </a:solidFill>
              </a:defRPr>
            </a:pPr>
            <a:r>
              <a:rPr sz="2250" b="1">
                <a:solidFill>
                  <a:srgbClr val="16835C"/>
                </a:solidFill>
              </a:rPr>
              <a:t>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2CB0F-3D83-4708-BC1B-DD214B6C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62125"/>
            <a:ext cx="198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簡単レシピ</a:t>
            </a:r>
          </a:p>
          <a:p xmlns:a="http://schemas.openxmlformats.org/drawingml/2006/main">
            <a:pPr algn="l">
              <a:defRPr sz="1425" b="1">
                <a:solidFill>
                  <a:srgbClr val="16835C"/>
                </a:solidFill>
              </a:defRPr>
            </a:pPr>
            <a:r>
              <a:rPr sz="1425" b="1">
                <a:solidFill>
                  <a:srgbClr val="16835C"/>
                </a:solidFill>
              </a:rPr>
              <a:t>を提案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3A19D-B1B5-44F0-912E-CA3EA6E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3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40984-7F95-416F-BDD1-8B7E84F7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3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150F3-6574-4A94-B795-AB5B46A5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239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2F8CD-6CE4-4DDC-BEEB-0EDCE9C9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82D"/>
                </a:solidFill>
              </a:defRPr>
            </a:pPr>
            <a:r>
              <a:rPr sz="1875" b="1">
                <a:solidFill>
                  <a:srgbClr val="12382D"/>
                </a:solidFill>
              </a:rPr>
              <a:t>提案に含まれる情報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E8DDB-DEC9-4DBE-A67B-CAA9037B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338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835C"/>
                </a:solidFill>
              </a:defRPr>
            </a:pPr>
            <a:r>
              <a:rPr sz="2325" b="1">
                <a:solidFill>
                  <a:srgbClr val="16835C"/>
                </a:solidFill>
              </a:rPr>
              <a:t>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61657-A33D-4375-B04D-67B320FF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A"/>
                </a:solidFill>
              </a:defRPr>
            </a:pPr>
            <a:r>
              <a:rPr sz="1350" b="1">
                <a:solidFill>
                  <a:srgbClr val="18302A"/>
                </a:solidFill>
              </a:rPr>
              <a:t>必要な材料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2CB46-EC74-43E1-A87C-C1983360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338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835C"/>
                </a:solidFill>
              </a:defRPr>
            </a:pPr>
            <a:r>
              <a:rPr sz="2325" b="1">
                <a:solidFill>
                  <a:srgbClr val="16835C"/>
                </a:solidFill>
              </a:rPr>
              <a:t>⏱️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4260A-6D01-499B-819D-9748BCBE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62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A"/>
                </a:solidFill>
              </a:defRPr>
            </a:pPr>
            <a:r>
              <a:rPr sz="1350" b="1">
                <a:solidFill>
                  <a:srgbClr val="18302A"/>
                </a:solidFill>
              </a:rPr>
              <a:t>調理時間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78303-7E15-4498-BB9D-729B7549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835C"/>
                </a:solidFill>
              </a:defRPr>
            </a:pPr>
            <a:r>
              <a:rPr sz="2325" b="1">
                <a:solidFill>
                  <a:srgbClr val="16835C"/>
                </a:solidFill>
              </a:rPr>
              <a:t>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459F6-A1E1-43C0-84EF-A7A046E8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A"/>
                </a:solidFill>
              </a:defRPr>
            </a:pPr>
            <a:r>
              <a:rPr sz="1350" b="1">
                <a:solidFill>
                  <a:srgbClr val="18302A"/>
                </a:solidFill>
              </a:rPr>
              <a:t>調理手順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2F8BD-0C69-4961-9F62-749C94F4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835C"/>
                </a:solidFill>
              </a:defRPr>
            </a:pPr>
            <a:r>
              <a:rPr sz="2325" b="1">
                <a:solidFill>
                  <a:srgbClr val="16835C"/>
                </a:solidFill>
              </a:rPr>
              <a:t>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7EB46D-AE3A-4FCA-B8F1-23BB85FE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62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A"/>
                </a:solidFill>
              </a:defRPr>
            </a:pPr>
            <a:r>
              <a:rPr sz="1350" b="1">
                <a:solidFill>
                  <a:srgbClr val="18302A"/>
                </a:solidFill>
              </a:rPr>
              <a:t>初心者向け</a:t>
            </a:r>
          </a:p>
        </p:txBody>
      </p:sp>
    </p:spTree>
    <p:extLst>
      <p:ext uri="{BB962C8B-B14F-4D97-AF65-F5344CB8AC3E}">
        <p14:creationId xmlns:p14="http://schemas.microsoft.com/office/powerpoint/2010/main" val="1166262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B74927-3CE7-4CB5-9662-8A642BC7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BB7E5-68EC-4CB1-A8D0-80F73141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利用の流れは、撮影から在庫更新までシンプル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DB09F-1591-4824-860F-BB3C5C4C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DFC87-09DB-469C-9453-C29CFB36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6E019-8D54-4207-A042-5AB1C10A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FEEE4-D344-42BA-A1A2-18DBACC1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949E0-CAF2-4E4D-B001-53221D03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95525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82D"/>
                </a:solidFill>
              </a:defRPr>
            </a:pPr>
            <a:r>
              <a:rPr sz="1350" b="1">
                <a:solidFill>
                  <a:srgbClr val="12382D"/>
                </a:solidFill>
              </a:rPr>
              <a:t>ログイン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3494D-5E73-4818-8E5E-097F8CEF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B9FC2-4012-4291-9B04-3D3C4302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1AD42-7B36-40E0-81F8-22EB51C9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85E01-5EC7-40AB-96B7-58AB4025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95525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82D"/>
                </a:solidFill>
              </a:defRPr>
            </a:pPr>
            <a:r>
              <a:rPr sz="1350" b="1">
                <a:solidFill>
                  <a:srgbClr val="12382D"/>
                </a:solidFill>
              </a:rPr>
              <a:t>撮影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92B27-3AA1-461A-A227-0F8F3CCA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431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7AC6D-1EFD-48E8-A60E-65ED03C2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14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3C4DE-9578-4EC9-A465-EAF3B990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14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257B6-B5A5-4EB5-8BC0-5BC559A8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95525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82D"/>
                </a:solidFill>
              </a:defRPr>
            </a:pPr>
            <a:r>
              <a:rPr sz="1350" b="1">
                <a:solidFill>
                  <a:srgbClr val="12382D"/>
                </a:solidFill>
              </a:rPr>
              <a:t>読み取り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8D18F-9D06-41DA-BAA5-45991784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431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ACC2B-4C07-4C03-8AC5-B184A23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B42B8-1CA8-4E71-908B-91377D9F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4DDC0-59CE-4646-8E95-676858DD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95525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82D"/>
                </a:solidFill>
              </a:defRPr>
            </a:pPr>
            <a:r>
              <a:rPr sz="1350" b="1">
                <a:solidFill>
                  <a:srgbClr val="12382D"/>
                </a:solidFill>
              </a:rPr>
              <a:t>内容確認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1C382-556E-471F-86CE-F45BBC24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431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5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11BAD-F851-4432-8192-23271C43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14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EA7FD-6498-4B7A-8ACB-CA47C699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14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2ACB1-19B7-46F5-8EF3-FE9EE95B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95525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82D"/>
                </a:solidFill>
              </a:defRPr>
            </a:pPr>
            <a:r>
              <a:rPr sz="1350" b="1">
                <a:solidFill>
                  <a:srgbClr val="12382D"/>
                </a:solidFill>
              </a:rPr>
              <a:t>保存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E3CD8B-D401-4B89-94CE-F47A7575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D4322-1749-4836-AB0E-54BE3015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576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DC1775-BA78-4A11-A931-4926C935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386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82D"/>
                </a:solidFill>
              </a:defRPr>
            </a:pPr>
            <a:r>
              <a:rPr sz="1350" b="1">
                <a:solidFill>
                  <a:srgbClr val="12382D"/>
                </a:solidFill>
              </a:rPr>
              <a:t>期限管理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93122-EC2B-466C-94ED-965AAEA7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86225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5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BDE27-7E3F-4C33-9206-8B8CFFDA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0A99E1-67B5-46B8-90AE-8C3A265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8576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4E6705-433D-4FB1-999E-6117CE3A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386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82D"/>
                </a:solidFill>
              </a:defRPr>
            </a:pPr>
            <a:r>
              <a:rPr sz="1350" b="1">
                <a:solidFill>
                  <a:srgbClr val="12382D"/>
                </a:solidFill>
              </a:rPr>
              <a:t>通知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C8F3D4-A7E4-4555-ABA0-BD7A6AA8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86225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5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FD2CC-4612-471A-9B10-3F25ADD0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6AC6A9-5D3D-4582-8EB7-F8286C86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FCDBDD-317A-481D-9D16-17899AC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386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82D"/>
                </a:solidFill>
              </a:defRPr>
            </a:pPr>
            <a:r>
              <a:rPr sz="1350" b="1">
                <a:solidFill>
                  <a:srgbClr val="12382D"/>
                </a:solidFill>
              </a:rPr>
              <a:t>レシピ提案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FB982-12B8-40F2-8DC3-EACED203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86225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5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6F4A09-A2B5-4E57-B801-3DF7010A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650DA9-4C69-43A4-A289-25E2F2BB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8576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3AE554-6D88-4EEB-8C8E-F193E039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82D"/>
                </a:solidFill>
              </a:defRPr>
            </a:pPr>
            <a:r>
              <a:rPr sz="1350" b="1">
                <a:solidFill>
                  <a:srgbClr val="12382D"/>
                </a:solidFill>
              </a:rPr>
              <a:t>在庫更新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6BAE23-2737-4BBD-99B8-A1C3270A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90825"/>
            <a:ext cx="169545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5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A5D621-4664-45D6-B945-B1F92C30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197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835C"/>
                </a:solidFill>
              </a:defRPr>
            </a:pPr>
            <a:r>
              <a:rPr sz="1575" b="1">
                <a:solidFill>
                  <a:srgbClr val="16835C"/>
                </a:solidFill>
              </a:rPr>
              <a:t>撮影・確認以外はアプリが継続してサポート</a:t>
            </a:r>
          </a:p>
        </p:txBody>
      </p:sp>
    </p:spTree>
    <p:extLst>
      <p:ext uri="{BB962C8B-B14F-4D97-AF65-F5344CB8AC3E}">
        <p14:creationId xmlns:p14="http://schemas.microsoft.com/office/powerpoint/2010/main" val="194661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E42BBF-BA9E-4217-9D08-6A1E94F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2D706-F2BD-44D7-9325-378C742A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Webブラウザで動き、技術構成は後から更新可能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774CF-B671-4EC2-B8C9-61E5D227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E3603-FF62-4304-B642-BF1E4B33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A9DD4-5BF7-4517-A893-A8E2A258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35C"/>
                </a:solidFill>
              </a:defRPr>
            </a:pPr>
            <a:r>
              <a:rPr sz="2025" b="1">
                <a:solidFill>
                  <a:srgbClr val="16835C"/>
                </a:solidFill>
              </a:rPr>
              <a:t>動作環境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5B400-A8EC-467C-8B85-CCBF3114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34296-405F-4149-9C1A-64C666EB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PC／スマートフォン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A1A3A-9A9B-45A5-9F9E-FC726A43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07233-39DE-43FE-BCC9-C44D34B2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Chrome・Edge・Safari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88A50-D34D-4C84-9ED4-FA9AA860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3856C-F650-4657-9F7A-22C6F807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インターネット接続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D40DC-9CA2-482C-9226-23571AA6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07827-8986-4236-AADB-AB0674E1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カメラ利用可能な端末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91448-C917-45FA-A172-7B79C487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EC321-C1C0-4F53-AB6A-D3DD36D5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9E42"/>
                </a:solidFill>
              </a:defRPr>
            </a:pPr>
            <a:r>
              <a:rPr sz="2025" b="1">
                <a:solidFill>
                  <a:srgbClr val="F59E42"/>
                </a:solidFill>
              </a:rPr>
              <a:t>開発環境（編集可能）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99408-A2AB-4957-853B-0A5AB79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0E24C-EA40-44D8-8872-EE990DC5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28825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82D"/>
                </a:solidFill>
              </a:defRPr>
            </a:pPr>
            <a:r>
              <a:rPr sz="1275" b="1">
                <a:solidFill>
                  <a:srgbClr val="12382D"/>
                </a:solidFill>
              </a:rPr>
              <a:t>フロントエンド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DFF20-B855-479B-9F64-FF818944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288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02A"/>
                </a:solidFill>
              </a:defRPr>
            </a:pPr>
            <a:r>
              <a:rPr sz="1275" b="0">
                <a:solidFill>
                  <a:srgbClr val="18302A"/>
                </a:solidFill>
              </a:rPr>
              <a:t>React / Next.js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D787E-B3EA-4AB8-9C4D-F134202F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00325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0EF40-A866-4B50-B313-99DC4DB6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76525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82D"/>
                </a:solidFill>
              </a:defRPr>
            </a:pPr>
            <a:r>
              <a:rPr sz="1275" b="1">
                <a:solidFill>
                  <a:srgbClr val="12382D"/>
                </a:solidFill>
              </a:rPr>
              <a:t>バックエンド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A7CB7-65A6-4644-A296-4F942DF6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765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02A"/>
                </a:solidFill>
              </a:defRPr>
            </a:pPr>
            <a:r>
              <a:rPr sz="1275" b="0">
                <a:solidFill>
                  <a:srgbClr val="18302A"/>
                </a:solidFill>
              </a:rPr>
              <a:t>Node.js / FastAPI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088E7-8E27-4B63-8BF1-66BBC40D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48025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B63B5F-4B21-4FDE-BFDD-B43A0CCD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24225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82D"/>
                </a:solidFill>
              </a:defRPr>
            </a:pPr>
            <a:r>
              <a:rPr sz="1275" b="1">
                <a:solidFill>
                  <a:srgbClr val="12382D"/>
                </a:solidFill>
              </a:rPr>
              <a:t>データベース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6F6D3-17E5-4EE3-B689-87381A1E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242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02A"/>
                </a:solidFill>
              </a:defRPr>
            </a:pPr>
            <a:r>
              <a:rPr sz="1275" b="0">
                <a:solidFill>
                  <a:srgbClr val="18302A"/>
                </a:solidFill>
              </a:rPr>
              <a:t>PostgreSQL / Supabase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E3F17E-F577-494B-956C-E21AF37A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95725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100B5-622C-4FA7-9870-E091F31B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71925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82D"/>
                </a:solidFill>
              </a:defRPr>
            </a:pPr>
            <a:r>
              <a:rPr sz="1275" b="1">
                <a:solidFill>
                  <a:srgbClr val="12382D"/>
                </a:solidFill>
              </a:rPr>
              <a:t>認識・OCR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81342-36A2-4AA5-8148-3792C955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719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02A"/>
                </a:solidFill>
              </a:defRPr>
            </a:pPr>
            <a:r>
              <a:rPr sz="1275" b="0">
                <a:solidFill>
                  <a:srgbClr val="18302A"/>
                </a:solidFill>
              </a:rPr>
              <a:t>AI API / Vision / Tesseract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787AFA-8AE4-4136-9B77-BFD6650C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43425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C0ADEA-FACF-4215-808A-8983274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19625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82D"/>
                </a:solidFill>
              </a:defRPr>
            </a:pPr>
            <a:r>
              <a:rPr sz="1275" b="1">
                <a:solidFill>
                  <a:srgbClr val="12382D"/>
                </a:solidFill>
              </a:rPr>
              <a:t>AI・公開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38F765-547A-4389-91ED-C4762978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02A"/>
                </a:solidFill>
              </a:defRPr>
            </a:pPr>
            <a:r>
              <a:rPr sz="1275" b="0">
                <a:solidFill>
                  <a:srgbClr val="18302A"/>
                </a:solidFill>
              </a:rPr>
              <a:t>生成AI API / Vercel ほか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50AA9A-66DF-4098-8786-4B02AC00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34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36E"/>
                </a:solidFill>
              </a:defRPr>
            </a:pPr>
            <a:r>
              <a:rPr sz="1200" b="0">
                <a:solidFill>
                  <a:srgbClr val="63736E"/>
                </a:solidFill>
              </a:rPr>
              <a:t>開発ツール：Visual Studio Code　／　管理：Git・GitHub</a:t>
            </a:r>
          </a:p>
        </p:txBody>
      </p:sp>
    </p:spTree>
    <p:extLst>
      <p:ext uri="{BB962C8B-B14F-4D97-AF65-F5344CB8AC3E}">
        <p14:creationId xmlns:p14="http://schemas.microsoft.com/office/powerpoint/2010/main" val="15823091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1D867A-91D8-4C02-9C27-C137A53C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AFE32-58A6-4E63-BE89-C6E04CF2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幅広い利用者の「使い切る」を支える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08501-DCC9-4E80-B2EB-67C56B85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351A8-3465-4E10-8D0D-E63087D1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A463E-6373-4E75-9B00-DB6B7115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2428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E24DB-380E-4D99-B725-6C14F718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525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5C"/>
                </a:solidFill>
              </a:defRPr>
            </a:pPr>
            <a:r>
              <a:rPr sz="2550" b="1">
                <a:solidFill>
                  <a:srgbClr val="16835C"/>
                </a:solidFill>
              </a:rPr>
              <a:t>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0D135-20CF-4AAB-94C0-875F12D2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552575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一人暮らし・学生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F27C9-585D-4A1A-BDD8-23D2E7E7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66925"/>
            <a:ext cx="1971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買いすぎを防止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5F0BE-2F14-4F75-93C5-2A93F7D8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2428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4559A-179D-46B0-BBBD-E726D02B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525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42"/>
                </a:solidFill>
              </a:defRPr>
            </a:pPr>
            <a:r>
              <a:rPr sz="2550" b="1">
                <a:solidFill>
                  <a:srgbClr val="F59E42"/>
                </a:solidFill>
              </a:rPr>
              <a:t>👨‍👩‍👧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ECD22-360D-4E1E-B004-35ADC11A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52575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家族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4D8F2-C513-442E-BF01-5259F373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66925"/>
            <a:ext cx="1971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冷蔵庫を共有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36ED2-F608-421B-8A21-6CD0641F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428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CEB2B-9303-4B21-9371-59B6CC77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525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5C"/>
                </a:solidFill>
              </a:defRPr>
            </a:pPr>
            <a:r>
              <a:rPr sz="2550" b="1">
                <a:solidFill>
                  <a:srgbClr val="16835C"/>
                </a:solidFill>
              </a:rPr>
              <a:t>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B851D-3EFB-4930-BB7B-2366610D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52575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忙しい会社員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DA61E-0D06-448C-91AF-1FBD7DA6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66925"/>
            <a:ext cx="1971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献立時間を短縮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D7934-91FD-40E0-AF4B-616C69D6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81125"/>
            <a:ext cx="2428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28880-2E26-4710-8DDE-82CCAAC1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525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42"/>
                </a:solidFill>
              </a:defRPr>
            </a:pPr>
            <a:r>
              <a:rPr sz="2550" b="1">
                <a:solidFill>
                  <a:srgbClr val="F59E42"/>
                </a:solidFill>
              </a:rPr>
              <a:t>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C315B-1F66-4D42-BC9A-FF7E51ED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552575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料理初心者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B160E-D3A9-4D68-91DB-F264DBDB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66925"/>
            <a:ext cx="1971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簡単料理を支援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E8C55-C38F-4C6F-8A70-5B4A41D2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81375"/>
            <a:ext cx="99060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F8D28-7DC7-448A-A765-5002C86B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得られるメリット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65D16-6910-45EF-9344-DAD13B60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42"/>
                </a:solidFill>
              </a:defRPr>
            </a:pPr>
            <a:r>
              <a:rPr sz="1875" b="1">
                <a:solidFill>
                  <a:srgbClr val="F59E42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83D0F-BAD2-44FF-8E79-F69A243E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386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賞味期限切れを防ぐ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FCA95-DE8D-4FB4-91C9-39683F35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386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42"/>
                </a:solidFill>
              </a:defRPr>
            </a:pPr>
            <a:r>
              <a:rPr sz="1875" b="1">
                <a:solidFill>
                  <a:srgbClr val="F59E42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741E5F-7CE2-4649-9390-12F15048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386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食品ロスを削減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26149-4817-4D65-89FA-C189B184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291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42"/>
                </a:solidFill>
              </a:defRPr>
            </a:pPr>
            <a:r>
              <a:rPr sz="1875" b="1">
                <a:solidFill>
                  <a:srgbClr val="F59E42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B623DB-2588-4626-8724-5DDF7270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291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食費を節約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F2E755-7531-439D-BF5C-0CC7000D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291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42"/>
                </a:solidFill>
              </a:defRPr>
            </a:pPr>
            <a:r>
              <a:rPr sz="1875" b="1">
                <a:solidFill>
                  <a:srgbClr val="F59E42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3E2340-FCCC-4575-B90E-9B02A651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291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冷蔵庫の食材を有効活用</a:t>
            </a:r>
          </a:p>
        </p:txBody>
      </p:sp>
    </p:spTree>
    <p:extLst>
      <p:ext uri="{BB962C8B-B14F-4D97-AF65-F5344CB8AC3E}">
        <p14:creationId xmlns:p14="http://schemas.microsoft.com/office/powerpoint/2010/main" val="7923550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D8C8BB-EAAB-48A0-B664-B7217A8A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5440C-EE03-4888-8E87-AE44327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登録の手間を減らし、迷わない操作を目指した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A8D63-3082-43D8-9057-113D90E5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1658B-7A24-42DB-BFE8-ED0E7ECA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5F8E6-8488-4DB4-9925-5703C9E6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2B12D-BFC5-47B0-9962-DC99D520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5C"/>
                </a:solidFill>
              </a:defRPr>
            </a:pPr>
            <a:r>
              <a:rPr sz="2550" b="1">
                <a:solidFill>
                  <a:srgbClr val="16835C"/>
                </a:solidFill>
              </a:rPr>
              <a:t>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AAE0B-A4F2-4A42-846A-26BD94A0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002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撮影で登録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58A01-DEBE-4C75-AB4C-ED1BC951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876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食品名の入力を短縮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17C86-72F1-4B57-BDB5-E6FBE2B6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571B8-C0AC-4AB8-9CF6-AA482720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0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42"/>
                </a:solidFill>
              </a:defRPr>
            </a:pPr>
            <a:r>
              <a:rPr sz="2550" b="1">
                <a:solidFill>
                  <a:srgbClr val="F59E42"/>
                </a:solidFill>
              </a:rPr>
              <a:t>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47B9D-2A67-491A-AF9D-B8490A36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6002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まとめて登録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E2083-616E-46FE-B445-5E1B2C3B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14550"/>
            <a:ext cx="2876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レシートから複数件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69193-93EE-4D39-9209-B0D72398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08904-0D1A-49C8-AA31-1DF7D921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0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5C"/>
                </a:solidFill>
              </a:defRPr>
            </a:pPr>
            <a:r>
              <a:rPr sz="2550" b="1">
                <a:solidFill>
                  <a:srgbClr val="16835C"/>
                </a:solidFill>
              </a:rPr>
              <a:t>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BEED0-CEC2-4D54-B95B-729187B6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期限を優先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75B5D-3AC6-4872-BCFB-DBAB22A8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2876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使うべき食材が明確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AD2A7-1B0D-4569-B186-A91063FF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8EA51-BDD7-4CFC-BA7B-70FA3930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42"/>
                </a:solidFill>
              </a:defRPr>
            </a:pPr>
            <a:r>
              <a:rPr sz="2550" b="1">
                <a:solidFill>
                  <a:srgbClr val="F59E42"/>
                </a:solidFill>
              </a:rPr>
              <a:t>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5118C-7723-4F37-8F1A-E7F94281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528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食材連動レシピ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C3AB4E-FC98-403F-9CCB-EC0E4F9C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67175"/>
            <a:ext cx="2876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期限の近い食品を活用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E4943-91B9-4BEA-A4E7-BF2BBC73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8137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9F33A-4C4B-45F2-AA00-F80589C2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528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5C"/>
                </a:solidFill>
              </a:defRPr>
            </a:pPr>
            <a:r>
              <a:rPr sz="2550" b="1">
                <a:solidFill>
                  <a:srgbClr val="16835C"/>
                </a:solidFill>
              </a:rPr>
              <a:t>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C1362-98D0-42B4-8DF8-EEA50D94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5528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レスポンシブ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2E58D-0B58-4614-8FDC-03006EBD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67175"/>
            <a:ext cx="2876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スマホでも見やすい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99940-DECA-488C-8426-EDEB5611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277AE-81EE-402B-9206-B4E45ECD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528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42"/>
                </a:solidFill>
              </a:defRPr>
            </a:pPr>
            <a:r>
              <a:rPr sz="2550" b="1">
                <a:solidFill>
                  <a:srgbClr val="F59E42"/>
                </a:solidFill>
              </a:rPr>
              <a:t>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A914E4-4D3F-49A1-B8E6-15212D0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528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シンプルUI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A3C09D-D0CF-44AD-AFA9-07F0725F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67175"/>
            <a:ext cx="2876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少ない操作で完了</a:t>
            </a:r>
          </a:p>
        </p:txBody>
      </p:sp>
    </p:spTree>
    <p:extLst>
      <p:ext uri="{BB962C8B-B14F-4D97-AF65-F5344CB8AC3E}">
        <p14:creationId xmlns:p14="http://schemas.microsoft.com/office/powerpoint/2010/main" val="1368056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669962-607B-4C36-B666-71B9C0C8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53A42-A15A-4E9D-808E-1B9F9159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精度と共有機能を高め、生活全体を支える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BC6FF-52A2-46C2-B7F2-9E7007E8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430BA-5B99-44BA-AE30-49F94F5C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7CAC7-6214-49FD-AAB0-A2724ECA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C5252"/>
                </a:solidFill>
              </a:defRPr>
            </a:pPr>
            <a:r>
              <a:rPr sz="2025" b="1">
                <a:solidFill>
                  <a:srgbClr val="DC5252"/>
                </a:solidFill>
              </a:rPr>
              <a:t>現在の課題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0D070-468B-42C0-9C11-3301C67C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42912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A79EE-0484-4DF7-AA6A-37ABF8BA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21569-8F96-4A1C-892C-65C2678D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38375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食品認識の精度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85EC3-15E1-46BF-BF44-F6615C5B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51EE2-1B61-4E79-91F0-34C7E2A2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OCRの読み取りミス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74FB5-25E9-4C9F-A00E-44E67BD0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98BAF-B5D5-4348-8E9F-D27ED21B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通知手段の拡充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BDB1E-6374-4B07-A3CD-ECCB96ED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FD46B-B051-4509-88C1-BA369E9E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A"/>
                </a:solidFill>
              </a:defRPr>
            </a:pPr>
            <a:r>
              <a:rPr sz="1500" b="0">
                <a:solidFill>
                  <a:srgbClr val="18302A"/>
                </a:solidFill>
              </a:rPr>
              <a:t>セキュリティ・個人情報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501E0-585B-4599-B51F-1F266AA8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9E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FA671-F048-49FD-9752-CCA2A192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432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9E42"/>
                </a:solidFill>
              </a:defRPr>
            </a:pPr>
            <a:r>
              <a:rPr sz="1650" b="1">
                <a:solidFill>
                  <a:srgbClr val="F59E42"/>
                </a:solidFill>
              </a:rPr>
              <a:t>改善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52558-5AED-4C8E-8A5D-00396DBF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811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35C"/>
                </a:solidFill>
              </a:defRPr>
            </a:pPr>
            <a:r>
              <a:rPr sz="2025" b="1">
                <a:solidFill>
                  <a:srgbClr val="16835C"/>
                </a:solidFill>
              </a:rPr>
              <a:t>目指す姿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A8352-D0D8-42DC-91D9-C644A911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05000"/>
            <a:ext cx="45243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C7DDA-772C-4D69-9096-7C7190DB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19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C28A3-BB2B-49D3-B407-C093CDB3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43125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2A"/>
                </a:solidFill>
              </a:defRPr>
            </a:pPr>
            <a:r>
              <a:rPr sz="1425" b="0">
                <a:solidFill>
                  <a:srgbClr val="18302A"/>
                </a:solidFill>
              </a:rPr>
              <a:t>バーコード・通知・家族共有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8254F-F75A-4BF4-ADCF-0687C631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78AF0-72E6-43AC-8883-0785A2DB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95575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2A"/>
                </a:solidFill>
              </a:defRPr>
            </a:pPr>
            <a:r>
              <a:rPr sz="1425" b="0">
                <a:solidFill>
                  <a:srgbClr val="18302A"/>
                </a:solidFill>
              </a:rPr>
              <a:t>自動買い物リスト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AAD75-D902-4950-907F-886988AA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24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99D7A-0989-4538-B879-B40BA78D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48025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2A"/>
                </a:solidFill>
              </a:defRPr>
            </a:pPr>
            <a:r>
              <a:rPr sz="1425" b="0">
                <a:solidFill>
                  <a:srgbClr val="18302A"/>
                </a:solidFill>
              </a:rPr>
              <a:t>栄養・アレルギー管理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60479-1F65-4B8F-A31C-C22D13FE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76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53A06-F0EA-4F42-865C-A5615AB5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800475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2A"/>
                </a:solidFill>
              </a:defRPr>
            </a:pPr>
            <a:r>
              <a:rPr sz="1425" b="0">
                <a:solidFill>
                  <a:srgbClr val="18302A"/>
                </a:solidFill>
              </a:rPr>
              <a:t>多言語・スマホアプリ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DC1A45-888D-404A-B958-EEB999D1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29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307ED-06B9-4721-B276-A813D333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352925"/>
            <a:ext cx="3686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02A"/>
                </a:solidFill>
              </a:defRPr>
            </a:pPr>
            <a:r>
              <a:rPr sz="1425" b="0">
                <a:solidFill>
                  <a:srgbClr val="18302A"/>
                </a:solidFill>
              </a:rPr>
              <a:t>好みに合うレシピ提案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0DB348-AA8F-4C36-B312-CBF63A4F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721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835C"/>
                </a:solidFill>
              </a:defRPr>
            </a:pPr>
            <a:r>
              <a:rPr sz="1575" b="1">
                <a:solidFill>
                  <a:srgbClr val="16835C"/>
                </a:solidFill>
              </a:rPr>
              <a:t>より正確に、より自分らしく使えるサービスへ</a:t>
            </a:r>
          </a:p>
        </p:txBody>
      </p:sp>
    </p:spTree>
    <p:extLst>
      <p:ext uri="{BB962C8B-B14F-4D97-AF65-F5344CB8AC3E}">
        <p14:creationId xmlns:p14="http://schemas.microsoft.com/office/powerpoint/2010/main" val="3361360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F7686-F801-490B-8E73-6584286E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97BAB-3744-42D7-B6B9-1D8DCEC4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82D"/>
                </a:solidFill>
              </a:defRPr>
            </a:pPr>
            <a:r>
              <a:rPr sz="2850" b="1">
                <a:solidFill>
                  <a:srgbClr val="12382D"/>
                </a:solidFill>
              </a:rPr>
              <a:t>mHungryは、食品を使い切る行動を後押しする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4846F-F4F4-4D81-A102-0C8F1112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7B134-19C1-4594-A170-306116AE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3736E"/>
                </a:solidFill>
              </a:defRPr>
            </a:pPr>
            <a:r>
              <a:rPr sz="1050" b="1">
                <a:solidFill>
                  <a:srgbClr val="63736E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4E86C-2A35-43C5-BCD9-9C945E7B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4B428-4EB9-465E-9805-083A9C9D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5C"/>
                </a:solidFill>
              </a:defRPr>
            </a:pPr>
            <a:r>
              <a:rPr sz="2550" b="1">
                <a:solidFill>
                  <a:srgbClr val="16835C"/>
                </a:solidFill>
              </a:rPr>
              <a:t>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24FA2-543B-480F-B9E7-B1D43AED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95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簡単登録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53205-8B07-43B2-918B-4B7343A0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09800"/>
            <a:ext cx="2019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食品・レシートを撮影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0ACDD-534C-4456-A309-74B0FDC6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2400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38385-9007-4705-B389-6AFE3AB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95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42"/>
                </a:solidFill>
              </a:defRPr>
            </a:pPr>
            <a:r>
              <a:rPr sz="2550" b="1">
                <a:solidFill>
                  <a:srgbClr val="F59E42"/>
                </a:solidFill>
              </a:rPr>
              <a:t>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09B63-8A34-4377-B378-EC2A041A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95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期限管理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049B1-ACC6-4534-AEC7-C2CD0101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09800"/>
            <a:ext cx="2019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通知で食べ忘れ防止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13DE2-D209-45A3-8789-D3FFBFF6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19C52-C5FC-4978-93C3-37296AD3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95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5C"/>
                </a:solidFill>
              </a:defRPr>
            </a:pPr>
            <a:r>
              <a:rPr sz="2550" b="1">
                <a:solidFill>
                  <a:srgbClr val="16835C"/>
                </a:solidFill>
              </a:rPr>
              <a:t>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59234-E8A8-4898-9EB9-C8534906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695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AIレシピ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AEB62-E15E-4AE8-B5F8-1519369C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09800"/>
            <a:ext cx="2019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手持ち食材を活用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9DF55-05C1-4D72-9E16-489E27C6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2400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297A9-258E-4671-BF5A-CCFE3EC6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95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35C"/>
                </a:solidFill>
              </a:defRPr>
            </a:pPr>
            <a:r>
              <a:rPr sz="2550" b="1">
                <a:solidFill>
                  <a:srgbClr val="16835C"/>
                </a:solidFill>
              </a:rPr>
              <a:t>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58040-D5C3-4A3B-ACEE-31D5C69C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954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82D"/>
                </a:solidFill>
              </a:defRPr>
            </a:pPr>
            <a:r>
              <a:rPr sz="1725" b="1">
                <a:solidFill>
                  <a:srgbClr val="12382D"/>
                </a:solidFill>
              </a:rPr>
              <a:t>食品ロス削減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BE4F4-416B-4EA4-9A69-9719022E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09800"/>
            <a:ext cx="2019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36E"/>
                </a:solidFill>
              </a:defRPr>
            </a:pPr>
            <a:r>
              <a:rPr sz="1275" b="0">
                <a:solidFill>
                  <a:srgbClr val="63736E"/>
                </a:solidFill>
              </a:rPr>
              <a:t>便利さと節約を両立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28814-B9E3-4A3A-AF97-F8044FBE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990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835C"/>
          </a:solidFill>
          <a:ln xmlns:a="http://schemas.openxmlformats.org/drawingml/2006/main" w="14288">
            <a:solidFill>
              <a:srgbClr val="1683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C3718-F243-419C-B5D5-5E38836A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mHungryを通して、食品を無駄にしない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便利な生活を実現します。</a:t>
            </a:r>
          </a:p>
        </p:txBody>
      </p:sp>
    </p:spTree>
    <p:extLst>
      <p:ext uri="{BB962C8B-B14F-4D97-AF65-F5344CB8AC3E}">
        <p14:creationId xmlns:p14="http://schemas.microsoft.com/office/powerpoint/2010/main" val="11110419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683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1284C-60F2-4EBD-A8A2-6D199DF8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0125"/>
            <a:ext cx="2047875" cy="2047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E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3F87B-F229-4155-8B2A-44925FF5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DE668-4CD1-4D50-AB52-1785AB04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001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mHungry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615E9-4184-4B76-9989-813DE67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ご清聴ありがとうございました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9CBD9-8FF8-433C-9C21-4431EF87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76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FF4EA"/>
                </a:solidFill>
              </a:defRPr>
            </a:pPr>
            <a:r>
              <a:rPr sz="1650" b="0">
                <a:solidFill>
                  <a:srgbClr val="DFF4EA"/>
                </a:solidFill>
              </a:rPr>
              <a:t>ご質問をお願いいたします。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0DCA3-9BDB-48F7-8BFE-32323567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338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🥬　🧊　📱　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27E3F-85A4-47B7-8936-3CD86E2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5119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2026-07-28T02:18:25.6440000Z</dcterms:created>
  <dcterms:modified xsi:type="dcterms:W3CDTF">2026-07-28T02:18:25.6440000Z</dcterms:modified>
</coreProperties>
</file>